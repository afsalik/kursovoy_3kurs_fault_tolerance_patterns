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4630400" cy="8229600"/>
  <p:notesSz cx="8229600" cy="146304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Inconsolata" panose="020B0604020202020204" charset="0"/>
      <p:regular r:id="rId20"/>
    </p:embeddedFont>
    <p:embeddedFont>
      <p:font typeface="Montserrat Black" panose="020B0604020202020204" charset="-52"/>
      <p:regular r:id="rId21"/>
    </p:embeddedFont>
    <p:embeddedFont>
      <p:font typeface="Trebuchet MS" panose="020B0603020202020204" pitchFamily="34" charset="0"/>
      <p:regular r:id="rId22"/>
      <p:bold r:id="rId23"/>
      <p:italic r:id="rId24"/>
      <p:boldItalic r:id="rId25"/>
    </p:embeddedFont>
    <p:embeddedFont>
      <p:font typeface="Wingdings 3" panose="05040102010807070707" pitchFamily="18" charset="2"/>
      <p:regular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7578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0160"/>
            <a:ext cx="14630400" cy="823976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8481" y="2885441"/>
            <a:ext cx="9320323" cy="1975562"/>
          </a:xfrm>
        </p:spPr>
        <p:txBody>
          <a:bodyPr anchor="b">
            <a:noAutofit/>
          </a:bodyPr>
          <a:lstStyle>
            <a:lvl1pPr algn="r">
              <a:defRPr sz="648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8481" y="4861000"/>
            <a:ext cx="9320323" cy="131627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0520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32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0169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3241041"/>
            <a:ext cx="10316002" cy="2191897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032480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45528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1" y="2592707"/>
            <a:ext cx="5020842" cy="465692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07964" y="2592707"/>
            <a:ext cx="5020841" cy="46569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40805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894" y="2593180"/>
            <a:ext cx="5022748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0894" y="3284695"/>
            <a:ext cx="5022748" cy="396494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06059" y="2593180"/>
            <a:ext cx="5022742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06062" y="3284695"/>
            <a:ext cx="5022740" cy="396494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2920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1" y="731520"/>
            <a:ext cx="10316002" cy="158496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18497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76873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1" y="1798325"/>
            <a:ext cx="4625434" cy="1534159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2554" y="617910"/>
            <a:ext cx="5416249" cy="663172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1" y="3332483"/>
            <a:ext cx="4625434" cy="3101339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548476" indent="0">
              <a:buNone/>
              <a:defRPr sz="1680"/>
            </a:lvl2pPr>
            <a:lvl3pPr marL="1096951" indent="0">
              <a:buNone/>
              <a:defRPr sz="1440"/>
            </a:lvl3pPr>
            <a:lvl4pPr marL="1645427" indent="0">
              <a:buNone/>
              <a:defRPr sz="1200"/>
            </a:lvl4pPr>
            <a:lvl5pPr marL="2193901" indent="0">
              <a:buNone/>
              <a:defRPr sz="1200"/>
            </a:lvl5pPr>
            <a:lvl6pPr marL="2742377" indent="0">
              <a:buNone/>
              <a:defRPr sz="1200"/>
            </a:lvl6pPr>
            <a:lvl7pPr marL="3290852" indent="0">
              <a:buNone/>
              <a:defRPr sz="1200"/>
            </a:lvl7pPr>
            <a:lvl8pPr marL="3839328" indent="0">
              <a:buNone/>
              <a:defRPr sz="1200"/>
            </a:lvl8pPr>
            <a:lvl9pPr marL="4387804" indent="0">
              <a:buNone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02827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5760720"/>
            <a:ext cx="10316000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801" y="731520"/>
            <a:ext cx="10316002" cy="4614862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2" y="6440806"/>
            <a:ext cx="10316000" cy="808829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6297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731520"/>
            <a:ext cx="10316002" cy="40843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364480"/>
            <a:ext cx="10316002" cy="1885154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18913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1" y="731520"/>
            <a:ext cx="9712961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39367" y="4358640"/>
            <a:ext cx="8669429" cy="4572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92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364480"/>
            <a:ext cx="10316002" cy="1885154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650244" y="94845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71613" y="34638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216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496703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2318386"/>
            <a:ext cx="10316002" cy="3114552"/>
          </a:xfrm>
        </p:spPr>
        <p:txBody>
          <a:bodyPr anchor="b">
            <a:normAutofit/>
          </a:bodyPr>
          <a:lstStyle>
            <a:lvl1pPr algn="l">
              <a:defRPr sz="528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87193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1" y="731520"/>
            <a:ext cx="9712961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2799" y="4815840"/>
            <a:ext cx="10316003" cy="61709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650244" y="94845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71613" y="34638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488477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731520"/>
            <a:ext cx="10305844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2799" y="4815840"/>
            <a:ext cx="10316003" cy="61709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33299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62831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61208" y="731520"/>
            <a:ext cx="1565692" cy="630174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2" y="731520"/>
            <a:ext cx="8472180" cy="630174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42248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9013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83314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53005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92187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25845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83685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48302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66176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0908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0160"/>
            <a:ext cx="14630400" cy="823976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1" y="731520"/>
            <a:ext cx="10316002" cy="15849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1" y="2592707"/>
            <a:ext cx="10316002" cy="4656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46160" y="7249635"/>
            <a:ext cx="109432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2801" y="7249635"/>
            <a:ext cx="755713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08796" y="7249635"/>
            <a:ext cx="82000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065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6" r:id="rId25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432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8019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Паттерны отказоустойчивости в микросервисной архитектуре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5138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Исследование и реализация паттернов Retry, Timeout, Circuit Breaker и Bulkhead с использованием Resilience4j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43234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Выполнил:</a:t>
            </a: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</a:t>
            </a:r>
            <a:r>
              <a:rPr lang="ru-RU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Кандыба Никита Дмитриевич</a:t>
            </a: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</a:t>
            </a:r>
            <a:r>
              <a:rPr lang="ru-RU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РИЗ-330938у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0503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Дисциплина:</a:t>
            </a: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</a:t>
            </a:r>
            <a:r>
              <a:rPr lang="ru-RU" dirty="0"/>
              <a:t>Разработка </a:t>
            </a:r>
            <a:r>
              <a:rPr lang="ru-RU" dirty="0" err="1"/>
              <a:t>web</a:t>
            </a:r>
            <a:r>
              <a:rPr lang="ru-RU" dirty="0"/>
              <a:t>-сервисов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668447"/>
            <a:ext cx="13042821" cy="772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b="1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Университет</a:t>
            </a:r>
            <a:r>
              <a:rPr lang="en-US" sz="17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:</a:t>
            </a: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</a:t>
            </a:r>
            <a:r>
              <a:rPr lang="ru-RU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ФГАОУ ВО «Уральский федеральный университет</a:t>
            </a:r>
          </a:p>
          <a:p>
            <a:pPr>
              <a:lnSpc>
                <a:spcPts val="2850"/>
              </a:lnSpc>
            </a:pPr>
            <a:r>
              <a:rPr lang="ru-RU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имени первого Президента России Б. Н. Ельцина»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624483"/>
            <a:ext cx="11006852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300"/>
              </a:lnSpc>
            </a:pPr>
            <a:r>
              <a:rPr lang="en-US" sz="42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Актуальность и </a:t>
            </a:r>
            <a:r>
              <a:rPr lang="en-US" sz="4250" b="1" dirty="0" err="1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цель</a:t>
            </a:r>
            <a:r>
              <a:rPr lang="en-US" sz="42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</a:t>
            </a:r>
            <a:r>
              <a:rPr lang="ru-RU" sz="4250" b="1" dirty="0">
                <a:solidFill>
                  <a:srgbClr val="151617"/>
                </a:solidFill>
                <a:latin typeface="Montserrat Black" pitchFamily="34" charset="0"/>
              </a:rPr>
              <a:t>работы</a:t>
            </a:r>
          </a:p>
          <a:p>
            <a:pPr marL="0" indent="0" algn="l">
              <a:lnSpc>
                <a:spcPts val="5300"/>
              </a:lnSpc>
              <a:buNone/>
            </a:pP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56642" y="1815227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Проблема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56642" y="2358985"/>
            <a:ext cx="6294834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Микросервисная архитектура подвержена каскадным отказам: сбой одного сервиса приводит к перегрузке всей системы и полной неработоспособности.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6543" y="1815227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Цель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586543" y="2358985"/>
            <a:ext cx="6294834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Исследовать и реализовать четыре ключевых паттерна отказоустойчивости для создания устойчивой распределённой системы.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6642" y="3789521"/>
            <a:ext cx="432316" cy="270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56642" y="4126349"/>
            <a:ext cx="6455569" cy="3048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9" name="Text 7"/>
          <p:cNvSpPr/>
          <p:nvPr/>
        </p:nvSpPr>
        <p:spPr>
          <a:xfrm>
            <a:off x="756642" y="4295299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Изучить теорию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6642" y="4756666"/>
            <a:ext cx="6455569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Анализ паттернов и принципов построения отказоустойчивых систем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18189" y="3789521"/>
            <a:ext cx="432316" cy="270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418189" y="4126349"/>
            <a:ext cx="6455569" cy="3048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3" name="Text 11"/>
          <p:cNvSpPr/>
          <p:nvPr/>
        </p:nvSpPr>
        <p:spPr>
          <a:xfrm>
            <a:off x="7418189" y="4295299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Выбрать стек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418189" y="4756666"/>
            <a:ext cx="6455569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Определение технологий и инструментов для реализации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56642" y="5800249"/>
            <a:ext cx="432316" cy="270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56642" y="6137077"/>
            <a:ext cx="6455569" cy="3048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7" name="Text 15"/>
          <p:cNvSpPr/>
          <p:nvPr/>
        </p:nvSpPr>
        <p:spPr>
          <a:xfrm>
            <a:off x="756642" y="6306026"/>
            <a:ext cx="328588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Разработать сервисы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56642" y="6767393"/>
            <a:ext cx="6455569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Создание двух микросервисов с интеграцией паттернов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418189" y="5800249"/>
            <a:ext cx="432316" cy="270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418189" y="6137077"/>
            <a:ext cx="6455569" cy="3048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1" name="Text 19"/>
          <p:cNvSpPr/>
          <p:nvPr/>
        </p:nvSpPr>
        <p:spPr>
          <a:xfrm>
            <a:off x="7418189" y="6306026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Протестировать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418189" y="6767393"/>
            <a:ext cx="6455569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Валидация работы каждого паттерна и оценка эффективности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1302336" y="1408510"/>
            <a:ext cx="8126968" cy="1498759"/>
          </a:xfrm>
          <a:prstGeom prst="roundRect">
            <a:avLst>
              <a:gd name="adj" fmla="val 610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455212" y="1561386"/>
            <a:ext cx="435888" cy="435888"/>
          </a:xfrm>
          <a:prstGeom prst="roundRect">
            <a:avLst>
              <a:gd name="adj" fmla="val 20975768"/>
            </a:avLst>
          </a:prstGeom>
          <a:solidFill>
            <a:srgbClr val="151617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5108" y="1681282"/>
            <a:ext cx="196096" cy="1960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55212" y="2090262"/>
            <a:ext cx="1816298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Retry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455212" y="2373155"/>
            <a:ext cx="7821216" cy="38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Повторная попытка вызова при временной ошибке. Конфигурация: maxAttempts=3, waitDuration=1с для восстановления после кратковременных сбоев.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1302336" y="3000257"/>
            <a:ext cx="8126968" cy="1498759"/>
          </a:xfrm>
          <a:prstGeom prst="roundRect">
            <a:avLst>
              <a:gd name="adj" fmla="val 610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1455212" y="3153133"/>
            <a:ext cx="435888" cy="435888"/>
          </a:xfrm>
          <a:prstGeom prst="roundRect">
            <a:avLst>
              <a:gd name="adj" fmla="val 20975768"/>
            </a:avLst>
          </a:prstGeom>
          <a:solidFill>
            <a:srgbClr val="151617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5108" y="3273029"/>
            <a:ext cx="196096" cy="1960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55212" y="3682009"/>
            <a:ext cx="1816298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Timeout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1455212" y="3964901"/>
            <a:ext cx="7821216" cy="38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Ограничение времени ожидания ответа (2 секунды через RestTemplate). Предотвращает зависание системы при медленных или недоступных сервисах.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1302336" y="4592003"/>
            <a:ext cx="8126968" cy="1498759"/>
          </a:xfrm>
          <a:prstGeom prst="roundRect">
            <a:avLst>
              <a:gd name="adj" fmla="val 610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1455212" y="4744880"/>
            <a:ext cx="435888" cy="435888"/>
          </a:xfrm>
          <a:prstGeom prst="roundRect">
            <a:avLst>
              <a:gd name="adj" fmla="val 20975768"/>
            </a:avLst>
          </a:prstGeom>
          <a:solidFill>
            <a:srgbClr val="151617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75108" y="4864776"/>
            <a:ext cx="196096" cy="1960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55212" y="5273755"/>
            <a:ext cx="1816298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Circuit Breaker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455212" y="5556648"/>
            <a:ext cx="7821216" cy="38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Три состояния (CLOSED, OPEN, HALF_OPEN). Автоматически отключает вызовы при множественных ошибках, защищая от каскадных отказов.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1302336" y="6183750"/>
            <a:ext cx="8126968" cy="1498759"/>
          </a:xfrm>
          <a:prstGeom prst="roundRect">
            <a:avLst>
              <a:gd name="adj" fmla="val 610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1455212" y="6336626"/>
            <a:ext cx="435888" cy="435888"/>
          </a:xfrm>
          <a:prstGeom prst="roundRect">
            <a:avLst>
              <a:gd name="adj" fmla="val 20975768"/>
            </a:avLst>
          </a:prstGeom>
          <a:solidFill>
            <a:srgbClr val="151617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75108" y="6456522"/>
            <a:ext cx="196096" cy="1960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55212" y="6865502"/>
            <a:ext cx="1816298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Bulkhead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455212" y="7148394"/>
            <a:ext cx="7821216" cy="38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Ограничение параллельных вызовов (maxConcurrentCalls=2). Изоляция ресурсов для предотвращения перегрузки системы.</a:t>
            </a:r>
            <a:endParaRPr lang="en-US" sz="1100" dirty="0"/>
          </a:p>
        </p:txBody>
      </p:sp>
      <p:sp>
        <p:nvSpPr>
          <p:cNvPr id="24" name="Text 0">
            <a:extLst>
              <a:ext uri="{FF2B5EF4-FFF2-40B4-BE49-F238E27FC236}">
                <a16:creationId xmlns:a16="http://schemas.microsoft.com/office/drawing/2014/main" id="{CF2364C9-D616-4EA8-87B9-776AD3F9FBDA}"/>
              </a:ext>
            </a:extLst>
          </p:cNvPr>
          <p:cNvSpPr/>
          <p:nvPr/>
        </p:nvSpPr>
        <p:spPr>
          <a:xfrm>
            <a:off x="756642" y="624483"/>
            <a:ext cx="11006852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50"/>
              </a:lnSpc>
            </a:pPr>
            <a:r>
              <a:rPr lang="en-US" sz="4400" b="1" dirty="0" err="1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Основные</a:t>
            </a:r>
            <a:r>
              <a:rPr lang="en-US" sz="4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</a:t>
            </a:r>
            <a:r>
              <a:rPr lang="en-US" sz="4400" b="1" dirty="0" err="1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паттерны</a:t>
            </a:r>
            <a:r>
              <a:rPr lang="en-US" sz="4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</a:t>
            </a:r>
            <a:r>
              <a:rPr lang="en-US" sz="4400" b="1" dirty="0" err="1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отказоустойчивости</a:t>
            </a: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32579" y="543997"/>
            <a:ext cx="7878842" cy="1129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Технологический стек и архитектура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32579" y="2033349"/>
            <a:ext cx="3458051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Используемые технологии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32579" y="2459712"/>
            <a:ext cx="3718917" cy="1760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Java 21 (модульная система)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Spring Boot 3.1.5 (автоконфигурация)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Resilience4j 2.1.0 (паттерны)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Apache Maven (сборка)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Postman (тестирование)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800124" y="2033349"/>
            <a:ext cx="2856309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Архитектура системы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00124" y="2459712"/>
            <a:ext cx="3718917" cy="129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Два микросервиса взаимодействуют через REST API. Dependency-сервис на порту 8081 имитирует сбои, Client-сервис на порту 8080 применяет паттерны защиты.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3865" y="4149805"/>
            <a:ext cx="903684" cy="108442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51496" y="4330542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Client-сервис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4351496" y="4699278"/>
            <a:ext cx="6831211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8080 порт, Resilience4j, вызовы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3865" y="5234226"/>
            <a:ext cx="903684" cy="108442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51496" y="5414963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REST API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4351496" y="5783699"/>
            <a:ext cx="6831211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HTTP/JSON, синхронные вызовы</a:t>
            </a:r>
            <a:endParaRPr lang="en-US" sz="14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3865" y="6318647"/>
            <a:ext cx="903684" cy="108442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351496" y="6499384"/>
            <a:ext cx="2527221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Dependency-сервис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4351496" y="6868121"/>
            <a:ext cx="6831211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8081 порт, симуляция ошибок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0898" y="491847"/>
            <a:ext cx="7003852" cy="46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Реализация Dependency-сервиса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520898" y="1201103"/>
            <a:ext cx="2996922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Эндпоинт для тестирования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20898" y="1531263"/>
            <a:ext cx="3869531" cy="197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GET /api/dependency/data?fail=error|timeout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20898" y="1816298"/>
            <a:ext cx="3869531" cy="197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Параметр </a:t>
            </a:r>
            <a:r>
              <a:rPr lang="en-US" sz="11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fail</a:t>
            </a: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управляет типом сбоя: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20898" y="2101334"/>
            <a:ext cx="3869531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error</a:t>
            </a: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– выбрасывает исключение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timeout</a:t>
            </a: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– задержка 5 секунд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отсутствие параметра – успешный ответ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761190" y="1201103"/>
            <a:ext cx="2178248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Логика контроллера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761190" y="1531263"/>
            <a:ext cx="3869531" cy="591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Проверка параметра fail и генерация соответствующего сценария сбоя или возврат данных.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20898" y="2905245"/>
            <a:ext cx="8102203" cy="3508058"/>
          </a:xfrm>
          <a:prstGeom prst="roundRect">
            <a:avLst>
              <a:gd name="adj" fmla="val 189"/>
            </a:avLst>
          </a:prstGeom>
          <a:solidFill>
            <a:srgbClr val="EBDFD7"/>
          </a:solidFill>
          <a:ln/>
        </p:spPr>
      </p:sp>
      <p:sp>
        <p:nvSpPr>
          <p:cNvPr id="11" name="Shape 8"/>
          <p:cNvSpPr/>
          <p:nvPr/>
        </p:nvSpPr>
        <p:spPr>
          <a:xfrm>
            <a:off x="513517" y="2905245"/>
            <a:ext cx="8116967" cy="3508058"/>
          </a:xfrm>
          <a:prstGeom prst="roundRect">
            <a:avLst>
              <a:gd name="adj" fmla="val 462"/>
            </a:avLst>
          </a:prstGeom>
          <a:solidFill>
            <a:srgbClr val="EBDFD7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2" name="Text 9"/>
          <p:cNvSpPr/>
          <p:nvPr/>
        </p:nvSpPr>
        <p:spPr>
          <a:xfrm>
            <a:off x="699492" y="3054072"/>
            <a:ext cx="7745016" cy="3216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50"/>
              </a:lnSpc>
            </a:pPr>
            <a:r>
              <a:rPr lang="en-US" sz="11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r>
              <a:rPr lang="en-US" sz="1150" dirty="0" err="1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RestController</a:t>
            </a:r>
            <a:endParaRPr lang="en-US" sz="1150" dirty="0">
              <a:solidFill>
                <a:srgbClr val="005CC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ts val="1550"/>
              </a:lnSpc>
            </a:pPr>
            <a:r>
              <a:rPr lang="en-US" sz="11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150" dirty="0" err="1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DependencyController</a:t>
            </a:r>
            <a:r>
              <a:rPr lang="en-US" sz="11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</a:p>
          <a:p>
            <a:pPr>
              <a:lnSpc>
                <a:spcPts val="1550"/>
              </a:lnSpc>
            </a:pPr>
            <a:r>
              <a:rPr lang="en-US" sz="11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</a:t>
            </a:r>
            <a:r>
              <a:rPr lang="en-US" sz="1150" dirty="0" err="1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GetMapping</a:t>
            </a:r>
            <a:r>
              <a:rPr lang="en-US" sz="11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("/</a:t>
            </a:r>
            <a:r>
              <a:rPr lang="en-US" sz="1150" dirty="0" err="1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11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/dependency/data")</a:t>
            </a:r>
          </a:p>
          <a:p>
            <a:pPr>
              <a:lnSpc>
                <a:spcPts val="1550"/>
              </a:lnSpc>
            </a:pPr>
            <a:r>
              <a:rPr lang="en-US" sz="11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</a:t>
            </a:r>
            <a:r>
              <a:rPr lang="en-US" sz="1150" dirty="0" err="1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getData</a:t>
            </a:r>
            <a:r>
              <a:rPr lang="en-US" sz="11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(@</a:t>
            </a:r>
            <a:r>
              <a:rPr lang="en-US" sz="1150" dirty="0" err="1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RequestParam</a:t>
            </a:r>
            <a:r>
              <a:rPr lang="en-US" sz="11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(required=false) String fail) throws </a:t>
            </a:r>
            <a:r>
              <a:rPr lang="en-US" sz="1150" dirty="0" err="1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InterruptedException</a:t>
            </a:r>
            <a:r>
              <a:rPr lang="en-US" sz="11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</a:p>
          <a:p>
            <a:pPr>
              <a:lnSpc>
                <a:spcPts val="1550"/>
              </a:lnSpc>
            </a:pPr>
            <a:r>
              <a:rPr lang="en-US" sz="11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("</a:t>
            </a:r>
            <a:r>
              <a:rPr lang="en-US" sz="1150" dirty="0" err="1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error".equals</a:t>
            </a:r>
            <a:r>
              <a:rPr lang="en-US" sz="11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(fail)) {</a:t>
            </a:r>
          </a:p>
          <a:p>
            <a:pPr>
              <a:lnSpc>
                <a:spcPts val="1550"/>
              </a:lnSpc>
            </a:pPr>
            <a:r>
              <a:rPr lang="en-US" sz="11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</a:t>
            </a:r>
            <a:r>
              <a:rPr lang="en-US" sz="1150" dirty="0" err="1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RuntimeException</a:t>
            </a:r>
            <a:r>
              <a:rPr lang="en-US" sz="11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("Simulated error");</a:t>
            </a:r>
          </a:p>
          <a:p>
            <a:pPr>
              <a:lnSpc>
                <a:spcPts val="1550"/>
              </a:lnSpc>
            </a:pPr>
            <a:r>
              <a:rPr lang="en-US" sz="11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</a:p>
          <a:p>
            <a:pPr>
              <a:lnSpc>
                <a:spcPts val="1550"/>
              </a:lnSpc>
            </a:pPr>
            <a:r>
              <a:rPr lang="en-US" sz="11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("</a:t>
            </a:r>
            <a:r>
              <a:rPr lang="en-US" sz="1150" dirty="0" err="1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timeout".equals</a:t>
            </a:r>
            <a:r>
              <a:rPr lang="en-US" sz="11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(fail)) {</a:t>
            </a:r>
          </a:p>
          <a:p>
            <a:pPr>
              <a:lnSpc>
                <a:spcPts val="1550"/>
              </a:lnSpc>
            </a:pPr>
            <a:r>
              <a:rPr lang="en-US" sz="11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150" dirty="0" err="1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Thread.sleep</a:t>
            </a:r>
            <a:r>
              <a:rPr lang="en-US" sz="11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(5000);</a:t>
            </a:r>
          </a:p>
          <a:p>
            <a:pPr>
              <a:lnSpc>
                <a:spcPts val="1550"/>
              </a:lnSpc>
            </a:pPr>
            <a:r>
              <a:rPr lang="en-US" sz="11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"OK after delay";</a:t>
            </a:r>
          </a:p>
          <a:p>
            <a:pPr>
              <a:lnSpc>
                <a:spcPts val="1550"/>
              </a:lnSpc>
            </a:pPr>
            <a:r>
              <a:rPr lang="en-US" sz="11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</a:p>
          <a:p>
            <a:pPr>
              <a:lnSpc>
                <a:spcPts val="1550"/>
              </a:lnSpc>
            </a:pPr>
            <a:r>
              <a:rPr lang="en-US" sz="11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"OK: " + </a:t>
            </a:r>
            <a:r>
              <a:rPr lang="en-US" sz="1150" dirty="0" err="1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System.currentTimeMillis</a:t>
            </a:r>
            <a:r>
              <a:rPr lang="en-US" sz="11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</a:p>
          <a:p>
            <a:pPr>
              <a:lnSpc>
                <a:spcPts val="1550"/>
              </a:lnSpc>
            </a:pPr>
            <a:r>
              <a:rPr lang="en-US" sz="11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</a:p>
          <a:p>
            <a:pPr>
              <a:lnSpc>
                <a:spcPts val="1550"/>
              </a:lnSpc>
            </a:pPr>
            <a:r>
              <a:rPr lang="en-US" sz="11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83751" y="401241"/>
            <a:ext cx="5238036" cy="431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Реализация Client-сервиса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83751" y="1043583"/>
            <a:ext cx="2281714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Аннотации Resilience4j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83751" y="1343620"/>
            <a:ext cx="3919657" cy="35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Синхронный метод с комбинированием паттернов через аннотации: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83751" y="1775103"/>
            <a:ext cx="3919657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@Retry – повторные попытки</a:t>
            </a:r>
            <a:endParaRPr lang="en-US" sz="1050" dirty="0"/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@CircuitBreaker – защита цепи</a:t>
            </a:r>
            <a:endParaRPr lang="en-US" sz="1050" dirty="0"/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@Bulkhead – изоляция ресурсов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748213" y="1043583"/>
            <a:ext cx="2770942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Таймаут через RestTemplate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748213" y="1343620"/>
            <a:ext cx="3919657" cy="431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ru-RU" sz="1050" dirty="0">
                <a:solidFill>
                  <a:srgbClr val="151617"/>
                </a:solidFill>
                <a:ea typeface="Inconsolata" pitchFamily="34" charset="-122"/>
              </a:rPr>
              <a:t>Таймаут через </a:t>
            </a:r>
            <a:r>
              <a:rPr lang="en-US" sz="1050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</a:rPr>
              <a:t>RestTemplate</a:t>
            </a: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</a:rPr>
              <a:t> – </a:t>
            </a:r>
            <a:r>
              <a:rPr lang="en-US" sz="1050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</a:rPr>
              <a:t>readTimeout</a:t>
            </a: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</a:rPr>
              <a:t>=2000ms</a:t>
            </a:r>
            <a:b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</a:rPr>
            </a:b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</a:rPr>
              <a:t>Fallback </a:t>
            </a:r>
            <a:r>
              <a:rPr lang="ru-RU" sz="1050" dirty="0">
                <a:solidFill>
                  <a:srgbClr val="151617"/>
                </a:solidFill>
                <a:ea typeface="Inconsolata" pitchFamily="34" charset="-122"/>
              </a:rPr>
              <a:t>обрабатывается в контроллере – через </a:t>
            </a: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</a:rPr>
              <a:t>try-catch</a:t>
            </a:r>
          </a:p>
        </p:txBody>
      </p:sp>
      <p:sp>
        <p:nvSpPr>
          <p:cNvPr id="9" name="Shape 6"/>
          <p:cNvSpPr/>
          <p:nvPr/>
        </p:nvSpPr>
        <p:spPr>
          <a:xfrm>
            <a:off x="483751" y="2491621"/>
            <a:ext cx="8176498" cy="750927"/>
          </a:xfrm>
          <a:prstGeom prst="roundRect">
            <a:avLst>
              <a:gd name="adj" fmla="val 1218"/>
            </a:avLst>
          </a:prstGeom>
          <a:solidFill>
            <a:srgbClr val="F8ECE4"/>
          </a:solidFill>
          <a:ln w="15240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7103" y="2644973"/>
            <a:ext cx="1858566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Fallback обработка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37103" y="2911316"/>
            <a:ext cx="7869793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try-catch блок в контроллере для перехвата исключений и возврата резервного ответа.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83751" y="3326725"/>
            <a:ext cx="8176498" cy="750927"/>
          </a:xfrm>
          <a:prstGeom prst="roundRect">
            <a:avLst>
              <a:gd name="adj" fmla="val 1218"/>
            </a:avLst>
          </a:prstGeom>
          <a:solidFill>
            <a:srgbClr val="F8ECE4"/>
          </a:solidFill>
          <a:ln w="15240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37103" y="3480078"/>
            <a:ext cx="2777847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RestTemplate конфигурация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37103" y="3746421"/>
            <a:ext cx="7869793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Клиент с таймаутами соединения и чтения для предотвращения зависаний.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83751" y="4343996"/>
            <a:ext cx="5143327" cy="3363956"/>
          </a:xfrm>
          <a:prstGeom prst="roundRect">
            <a:avLst>
              <a:gd name="adj" fmla="val 250"/>
            </a:avLst>
          </a:prstGeom>
          <a:solidFill>
            <a:srgbClr val="EBDFD7"/>
          </a:solidFill>
          <a:ln/>
        </p:spPr>
      </p:sp>
      <p:sp>
        <p:nvSpPr>
          <p:cNvPr id="16" name="Shape 13"/>
          <p:cNvSpPr/>
          <p:nvPr/>
        </p:nvSpPr>
        <p:spPr>
          <a:xfrm>
            <a:off x="476846" y="4343996"/>
            <a:ext cx="5150232" cy="3363956"/>
          </a:xfrm>
          <a:prstGeom prst="roundRect">
            <a:avLst>
              <a:gd name="adj" fmla="val 567"/>
            </a:avLst>
          </a:prstGeom>
          <a:solidFill>
            <a:srgbClr val="EBDFD7"/>
          </a:solidFill>
          <a:ln/>
        </p:spPr>
        <p:txBody>
          <a:bodyPr/>
          <a:lstStyle/>
          <a:p>
            <a:r>
              <a:rPr lang="ru-RU" b="1" dirty="0"/>
              <a:t>Код </a:t>
            </a:r>
            <a:r>
              <a:rPr lang="en-US" b="1" dirty="0" err="1"/>
              <a:t>DependencyClient</a:t>
            </a:r>
            <a:r>
              <a:rPr lang="en-US" b="1" dirty="0"/>
              <a:t>:</a:t>
            </a:r>
            <a:endParaRPr lang="ru-RU" dirty="0"/>
          </a:p>
        </p:txBody>
      </p:sp>
      <p:sp>
        <p:nvSpPr>
          <p:cNvPr id="17" name="Text 14"/>
          <p:cNvSpPr/>
          <p:nvPr/>
        </p:nvSpPr>
        <p:spPr>
          <a:xfrm>
            <a:off x="637103" y="4779267"/>
            <a:ext cx="4919635" cy="2009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</a:p>
          <a:p>
            <a:pPr>
              <a:lnSpc>
                <a:spcPts val="1400"/>
              </a:lnSpc>
            </a:pP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050" dirty="0" err="1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DependencyClient</a:t>
            </a: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</a:p>
          <a:p>
            <a:pPr>
              <a:lnSpc>
                <a:spcPts val="1400"/>
              </a:lnSpc>
            </a:pP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@Retry(name = "</a:t>
            </a:r>
            <a:r>
              <a:rPr lang="en-US" sz="1050" dirty="0" err="1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myRetry</a:t>
            </a: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</a:p>
          <a:p>
            <a:pPr>
              <a:lnSpc>
                <a:spcPts val="1400"/>
              </a:lnSpc>
            </a:pP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</a:t>
            </a:r>
            <a:r>
              <a:rPr lang="en-US" sz="1050" dirty="0" err="1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CircuitBreaker</a:t>
            </a: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(name = "</a:t>
            </a:r>
            <a:r>
              <a:rPr lang="en-US" sz="1050" dirty="0" err="1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myCircuitBreaker</a:t>
            </a: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</a:p>
          <a:p>
            <a:pPr>
              <a:lnSpc>
                <a:spcPts val="1400"/>
              </a:lnSpc>
            </a:pP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@Bulkhead(name = "</a:t>
            </a:r>
            <a:r>
              <a:rPr lang="en-US" sz="1050" dirty="0" err="1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myBulkhead</a:t>
            </a: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</a:p>
          <a:p>
            <a:pPr>
              <a:lnSpc>
                <a:spcPts val="1400"/>
              </a:lnSpc>
            </a:pP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</a:t>
            </a:r>
            <a:r>
              <a:rPr lang="en-US" sz="1050" dirty="0" err="1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callDependency</a:t>
            </a: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(String </a:t>
            </a:r>
            <a:r>
              <a:rPr lang="en-US" sz="1050" dirty="0" err="1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failMode</a:t>
            </a: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</a:p>
          <a:p>
            <a:pPr>
              <a:lnSpc>
                <a:spcPts val="1400"/>
              </a:lnSpc>
            </a:pP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</a:t>
            </a:r>
            <a:r>
              <a:rPr lang="en-US" sz="1050" dirty="0" err="1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50" dirty="0" err="1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dependencyUrl</a:t>
            </a: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</a:p>
          <a:p>
            <a:pPr>
              <a:lnSpc>
                <a:spcPts val="1400"/>
              </a:lnSpc>
            </a:pP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</a:t>
            </a:r>
            <a:r>
              <a:rPr lang="en-US" sz="1050" dirty="0" err="1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failMode</a:t>
            </a: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!= null) </a:t>
            </a:r>
            <a:r>
              <a:rPr lang="en-US" sz="1050" dirty="0" err="1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+= "?fail=" + </a:t>
            </a:r>
            <a:r>
              <a:rPr lang="en-US" sz="1050" dirty="0" err="1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failMode</a:t>
            </a: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</a:p>
          <a:p>
            <a:pPr>
              <a:lnSpc>
                <a:spcPts val="1400"/>
              </a:lnSpc>
            </a:pP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</a:t>
            </a:r>
            <a:r>
              <a:rPr lang="en-US" sz="1050" dirty="0" err="1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restTemplate.getForObject</a:t>
            </a: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 err="1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 err="1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String.class</a:t>
            </a: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</a:p>
          <a:p>
            <a:pPr>
              <a:lnSpc>
                <a:spcPts val="1400"/>
              </a:lnSpc>
            </a:pP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</a:p>
          <a:p>
            <a:pPr>
              <a:lnSpc>
                <a:spcPts val="1400"/>
              </a:lnSpc>
            </a:pP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1B71EB-BE63-4FCD-BFBE-07A6CCA7B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4630400" cy="0"/>
          </a:xfrm>
          <a:prstGeom prst="rect">
            <a:avLst/>
          </a:prstGeom>
          <a:solidFill>
            <a:srgbClr val="1515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java</a:t>
            </a:r>
            <a:endParaRPr kumimoji="0" lang="ru-RU" altLang="ru-RU" sz="900" b="0" i="0" u="none" strike="noStrike" cap="none" normalizeH="0" baseline="0">
              <a:ln>
                <a:noFill/>
              </a:ln>
              <a:solidFill>
                <a:srgbClr val="E3EAF2"/>
              </a:solidFill>
              <a:effectLst/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E3EAF2"/>
                </a:solidFill>
                <a:effectLst/>
                <a:latin typeface="Menlo"/>
              </a:rPr>
              <a:t>@RestController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 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E9AE7E"/>
                </a:solidFill>
                <a:effectLst/>
                <a:latin typeface="Menlo"/>
              </a:rPr>
              <a:t>public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 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E9AE7E"/>
                </a:solidFill>
                <a:effectLst/>
                <a:latin typeface="Menlo"/>
              </a:rPr>
              <a:t>class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 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6CB8E6"/>
                </a:solidFill>
                <a:effectLst/>
                <a:latin typeface="Menlo"/>
              </a:rPr>
              <a:t>ClientController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 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E3EAF2"/>
                </a:solidFill>
                <a:effectLst/>
                <a:latin typeface="Menlo"/>
              </a:rPr>
              <a:t>{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 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E3EAF2"/>
                </a:solidFill>
                <a:effectLst/>
                <a:latin typeface="Menlo"/>
              </a:rPr>
              <a:t>@GetMapping(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91D076"/>
                </a:solidFill>
                <a:effectLst/>
                <a:latin typeface="Menlo"/>
              </a:rPr>
              <a:t>"/call"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E3EAF2"/>
                </a:solidFill>
                <a:effectLst/>
                <a:latin typeface="Menlo"/>
              </a:rPr>
              <a:t>)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 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E9AE7E"/>
                </a:solidFill>
                <a:effectLst/>
                <a:latin typeface="Menlo"/>
              </a:rPr>
              <a:t>public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 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6CB8E6"/>
                </a:solidFill>
                <a:effectLst/>
                <a:latin typeface="Menlo"/>
              </a:rPr>
              <a:t>String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 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C699E3"/>
                </a:solidFill>
                <a:effectLst/>
                <a:latin typeface="Menlo"/>
              </a:rPr>
              <a:t>call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E3EAF2"/>
                </a:solidFill>
                <a:effectLst/>
                <a:latin typeface="Menlo"/>
              </a:rPr>
              <a:t>(@RequestParam(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required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E9AE7E"/>
                </a:solidFill>
                <a:effectLst/>
                <a:latin typeface="Menlo"/>
              </a:rPr>
              <a:t>=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E6D37A"/>
                </a:solidFill>
                <a:effectLst/>
                <a:latin typeface="Menlo"/>
              </a:rPr>
              <a:t>false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E3EAF2"/>
                </a:solidFill>
                <a:effectLst/>
                <a:latin typeface="Menlo"/>
              </a:rPr>
              <a:t>)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 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6CB8E6"/>
                </a:solidFill>
                <a:effectLst/>
                <a:latin typeface="Menlo"/>
              </a:rPr>
              <a:t>String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 fail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E3EAF2"/>
                </a:solidFill>
                <a:effectLst/>
                <a:latin typeface="Menlo"/>
              </a:rPr>
              <a:t>)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 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E3EAF2"/>
                </a:solidFill>
                <a:effectLst/>
                <a:latin typeface="Menlo"/>
              </a:rPr>
              <a:t>{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 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E9AE7E"/>
                </a:solidFill>
                <a:effectLst/>
                <a:latin typeface="Menlo"/>
              </a:rPr>
              <a:t>try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 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E3EAF2"/>
                </a:solidFill>
                <a:effectLst/>
                <a:latin typeface="Menlo"/>
              </a:rPr>
              <a:t>{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 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E9AE7E"/>
                </a:solidFill>
                <a:effectLst/>
                <a:latin typeface="Menlo"/>
              </a:rPr>
              <a:t>return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 dependencyClient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E3EAF2"/>
                </a:solidFill>
                <a:effectLst/>
                <a:latin typeface="Menlo"/>
              </a:rPr>
              <a:t>.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C699E3"/>
                </a:solidFill>
                <a:effectLst/>
                <a:latin typeface="Menlo"/>
              </a:rPr>
              <a:t>callDependency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E3EAF2"/>
                </a:solidFill>
                <a:effectLst/>
                <a:latin typeface="Menlo"/>
              </a:rPr>
              <a:t>(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fail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E3EAF2"/>
                </a:solidFill>
                <a:effectLst/>
                <a:latin typeface="Menlo"/>
              </a:rPr>
              <a:t>);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 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E3EAF2"/>
                </a:solidFill>
                <a:effectLst/>
                <a:latin typeface="Menlo"/>
              </a:rPr>
              <a:t>}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 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E9AE7E"/>
                </a:solidFill>
                <a:effectLst/>
                <a:latin typeface="Menlo"/>
              </a:rPr>
              <a:t>catch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 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E3EAF2"/>
                </a:solidFill>
                <a:effectLst/>
                <a:latin typeface="Menlo"/>
              </a:rPr>
              <a:t>(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6CB8E6"/>
                </a:solidFill>
                <a:effectLst/>
                <a:latin typeface="Menlo"/>
              </a:rPr>
              <a:t>Exception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 e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E3EAF2"/>
                </a:solidFill>
                <a:effectLst/>
                <a:latin typeface="Menlo"/>
              </a:rPr>
              <a:t>)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 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E3EAF2"/>
                </a:solidFill>
                <a:effectLst/>
                <a:latin typeface="Menlo"/>
              </a:rPr>
              <a:t>{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 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E9AE7E"/>
                </a:solidFill>
                <a:effectLst/>
                <a:latin typeface="Menlo"/>
              </a:rPr>
              <a:t>return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 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91D076"/>
                </a:solidFill>
                <a:effectLst/>
                <a:latin typeface="Menlo"/>
              </a:rPr>
              <a:t>"FALLBACK: Service unavailable"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E3EAF2"/>
                </a:solidFill>
                <a:effectLst/>
                <a:latin typeface="Menlo"/>
              </a:rPr>
              <a:t>;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 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E3EAF2"/>
                </a:solidFill>
                <a:effectLst/>
                <a:latin typeface="Menlo"/>
              </a:rPr>
              <a:t>}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 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E3EAF2"/>
                </a:solidFill>
                <a:effectLst/>
                <a:latin typeface="Menlo"/>
              </a:rPr>
              <a:t>}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 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rgbClr val="E3EAF2"/>
                </a:solidFill>
                <a:effectLst/>
                <a:latin typeface="Menlo"/>
              </a:rPr>
              <a:t>}</a:t>
            </a:r>
            <a:r>
              <a:rPr kumimoji="0" lang="ru-RU" altLang="ru-RU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1E0BD889-40C4-4BC3-8161-D163D4621818}"/>
              </a:ext>
            </a:extLst>
          </p:cNvPr>
          <p:cNvSpPr/>
          <p:nvPr/>
        </p:nvSpPr>
        <p:spPr>
          <a:xfrm>
            <a:off x="5780430" y="4343996"/>
            <a:ext cx="5150232" cy="3363956"/>
          </a:xfrm>
          <a:prstGeom prst="roundRect">
            <a:avLst>
              <a:gd name="adj" fmla="val 567"/>
            </a:avLst>
          </a:prstGeom>
          <a:solidFill>
            <a:srgbClr val="EBDFD7"/>
          </a:solidFill>
          <a:ln/>
        </p:spPr>
        <p:txBody>
          <a:bodyPr/>
          <a:lstStyle/>
          <a:p>
            <a:r>
              <a:rPr lang="ru-RU" b="1" dirty="0"/>
              <a:t>Код </a:t>
            </a:r>
            <a:r>
              <a:rPr lang="ru-RU" b="1" dirty="0" err="1"/>
              <a:t>Код</a:t>
            </a:r>
            <a:r>
              <a:rPr lang="ru-RU" b="1" dirty="0"/>
              <a:t> </a:t>
            </a:r>
            <a:r>
              <a:rPr lang="en-US" b="1" dirty="0" err="1"/>
              <a:t>ClientController</a:t>
            </a:r>
            <a:r>
              <a:rPr lang="en-US" b="1" dirty="0"/>
              <a:t> (fallback):</a:t>
            </a:r>
            <a:endParaRPr lang="ru-RU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B79ED622-C557-4738-8FB5-20FFAC663AE6}"/>
              </a:ext>
            </a:extLst>
          </p:cNvPr>
          <p:cNvSpPr/>
          <p:nvPr/>
        </p:nvSpPr>
        <p:spPr>
          <a:xfrm>
            <a:off x="5895728" y="4779267"/>
            <a:ext cx="4919635" cy="2009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r>
              <a:rPr lang="en-US" sz="1050" dirty="0" err="1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RestController</a:t>
            </a:r>
            <a:endParaRPr lang="en-US" sz="1050" dirty="0">
              <a:solidFill>
                <a:srgbClr val="005CC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ts val="1400"/>
              </a:lnSpc>
            </a:pP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050" dirty="0" err="1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ClientController</a:t>
            </a: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</a:p>
          <a:p>
            <a:pPr>
              <a:lnSpc>
                <a:spcPts val="1400"/>
              </a:lnSpc>
            </a:pP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</a:t>
            </a:r>
            <a:r>
              <a:rPr lang="en-US" sz="1050" dirty="0" err="1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GetMapping</a:t>
            </a: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("/call")</a:t>
            </a:r>
          </a:p>
          <a:p>
            <a:pPr>
              <a:lnSpc>
                <a:spcPts val="1400"/>
              </a:lnSpc>
            </a:pP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call(@</a:t>
            </a:r>
            <a:r>
              <a:rPr lang="en-US" sz="1050" dirty="0" err="1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RequestParam</a:t>
            </a: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(required=false) String fail) {</a:t>
            </a:r>
          </a:p>
          <a:p>
            <a:pPr>
              <a:lnSpc>
                <a:spcPts val="1400"/>
              </a:lnSpc>
            </a:pP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 {</a:t>
            </a:r>
          </a:p>
          <a:p>
            <a:pPr>
              <a:lnSpc>
                <a:spcPts val="1400"/>
              </a:lnSpc>
            </a:pP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</a:t>
            </a:r>
            <a:r>
              <a:rPr lang="en-US" sz="1050" dirty="0" err="1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dependencyClient.callDependency</a:t>
            </a: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(fail);</a:t>
            </a:r>
          </a:p>
          <a:p>
            <a:pPr>
              <a:lnSpc>
                <a:spcPts val="1400"/>
              </a:lnSpc>
            </a:pP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catch (Exception e) {</a:t>
            </a:r>
          </a:p>
          <a:p>
            <a:pPr>
              <a:lnSpc>
                <a:spcPts val="1400"/>
              </a:lnSpc>
            </a:pP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"FALLBACK: Service unavailable";</a:t>
            </a:r>
          </a:p>
          <a:p>
            <a:pPr>
              <a:lnSpc>
                <a:spcPts val="1400"/>
              </a:lnSpc>
            </a:pP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</a:p>
          <a:p>
            <a:pPr>
              <a:lnSpc>
                <a:spcPts val="1400"/>
              </a:lnSpc>
            </a:pP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</a:p>
          <a:p>
            <a:pPr>
              <a:lnSpc>
                <a:spcPts val="1400"/>
              </a:lnSpc>
            </a:pPr>
            <a:r>
              <a:rPr lang="en-US" sz="105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55394" y="347662"/>
            <a:ext cx="6292334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Конфигурация паттернов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1255394" y="943451"/>
            <a:ext cx="2618899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application.properties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255394" y="1546979"/>
            <a:ext cx="2509957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Retry конфигурация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255394" y="1967745"/>
            <a:ext cx="3752374" cy="1573530"/>
          </a:xfrm>
          <a:prstGeom prst="roundRect">
            <a:avLst>
              <a:gd name="adj" fmla="val 581"/>
            </a:avLst>
          </a:prstGeom>
          <a:solidFill>
            <a:srgbClr val="EBDFD7"/>
          </a:solidFill>
          <a:ln/>
        </p:spPr>
      </p:sp>
      <p:sp>
        <p:nvSpPr>
          <p:cNvPr id="7" name="Shape 4"/>
          <p:cNvSpPr/>
          <p:nvPr/>
        </p:nvSpPr>
        <p:spPr>
          <a:xfrm>
            <a:off x="1246822" y="1967745"/>
            <a:ext cx="3769519" cy="1573530"/>
          </a:xfrm>
          <a:prstGeom prst="roundRect">
            <a:avLst>
              <a:gd name="adj" fmla="val 1656"/>
            </a:avLst>
          </a:prstGeom>
          <a:solidFill>
            <a:srgbClr val="EBDFD7"/>
          </a:solidFill>
          <a:ln/>
        </p:spPr>
      </p:sp>
      <p:sp>
        <p:nvSpPr>
          <p:cNvPr id="8" name="Text 5"/>
          <p:cNvSpPr/>
          <p:nvPr/>
        </p:nvSpPr>
        <p:spPr>
          <a:xfrm>
            <a:off x="1463873" y="2141339"/>
            <a:ext cx="3335417" cy="122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resilience4j.retry.instances.clientRetry.max-attempts=3
resilience4j.retry.instances.clientRetry.wait-duration=1s
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55394" y="3690818"/>
            <a:ext cx="3752374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Максимум 3 попытки с ожиданием 1 секунда между ними.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39012" y="1546979"/>
            <a:ext cx="3211354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Circuit Breaker параметры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39012" y="1967745"/>
            <a:ext cx="3752374" cy="2309336"/>
          </a:xfrm>
          <a:prstGeom prst="roundRect">
            <a:avLst>
              <a:gd name="adj" fmla="val 396"/>
            </a:avLst>
          </a:prstGeom>
          <a:solidFill>
            <a:srgbClr val="EBDFD7"/>
          </a:solidFill>
          <a:ln/>
        </p:spPr>
      </p:sp>
      <p:sp>
        <p:nvSpPr>
          <p:cNvPr id="12" name="Shape 9"/>
          <p:cNvSpPr/>
          <p:nvPr/>
        </p:nvSpPr>
        <p:spPr>
          <a:xfrm>
            <a:off x="5430440" y="1967745"/>
            <a:ext cx="3769519" cy="2309336"/>
          </a:xfrm>
          <a:prstGeom prst="roundRect">
            <a:avLst>
              <a:gd name="adj" fmla="val 1128"/>
            </a:avLst>
          </a:prstGeom>
          <a:solidFill>
            <a:srgbClr val="EBDFD7"/>
          </a:solidFill>
          <a:ln/>
        </p:spPr>
      </p:sp>
      <p:sp>
        <p:nvSpPr>
          <p:cNvPr id="13" name="Text 10"/>
          <p:cNvSpPr/>
          <p:nvPr/>
        </p:nvSpPr>
        <p:spPr>
          <a:xfrm>
            <a:off x="5647491" y="2141339"/>
            <a:ext cx="3335417" cy="1962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resilience4j.circuitbreaker.instances.clientCircuitBreaker.sliding-window-size=5
resilience4j.circuitbreaker.instances.clientCircuitBreaker.failure-rate-threshold=50
resilience4j.circuitbreaker.instances.clientCircuitBreaker.wait-duration-in-open-state=10s
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439012" y="4426624"/>
            <a:ext cx="3752374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Окно 5 вызовов, порог 50% ошибок, пауза 10 секунд в состоянии OPEN.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255394" y="5319236"/>
            <a:ext cx="2508052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Bulkhead настройки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1255394" y="5740003"/>
            <a:ext cx="3752374" cy="1082993"/>
          </a:xfrm>
          <a:prstGeom prst="roundRect">
            <a:avLst>
              <a:gd name="adj" fmla="val 844"/>
            </a:avLst>
          </a:prstGeom>
          <a:solidFill>
            <a:srgbClr val="EBDFD7"/>
          </a:solidFill>
          <a:ln/>
        </p:spPr>
      </p:sp>
      <p:sp>
        <p:nvSpPr>
          <p:cNvPr id="17" name="Shape 14"/>
          <p:cNvSpPr/>
          <p:nvPr/>
        </p:nvSpPr>
        <p:spPr>
          <a:xfrm>
            <a:off x="1246822" y="5740003"/>
            <a:ext cx="3769519" cy="1082993"/>
          </a:xfrm>
          <a:prstGeom prst="roundRect">
            <a:avLst>
              <a:gd name="adj" fmla="val 2405"/>
            </a:avLst>
          </a:prstGeom>
          <a:solidFill>
            <a:srgbClr val="EBDFD7"/>
          </a:solidFill>
          <a:ln/>
        </p:spPr>
      </p:sp>
      <p:sp>
        <p:nvSpPr>
          <p:cNvPr id="18" name="Text 15"/>
          <p:cNvSpPr/>
          <p:nvPr/>
        </p:nvSpPr>
        <p:spPr>
          <a:xfrm>
            <a:off x="1463873" y="5913596"/>
            <a:ext cx="3335417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resilience4j.bulkhead.instances.clientBulkhead.max-concurrent-calls=2
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255394" y="6972538"/>
            <a:ext cx="3752374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Ограничение на 2 параллельных вызова для изоляции ресурсов.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439012" y="5060990"/>
            <a:ext cx="4528953" cy="65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00"/>
              </a:lnSpc>
            </a:pPr>
            <a:r>
              <a:rPr lang="ru-RU" sz="1700" b="1" dirty="0">
                <a:solidFill>
                  <a:srgbClr val="151617"/>
                </a:solidFill>
                <a:latin typeface="Montserrat Black" pitchFamily="34" charset="0"/>
              </a:rPr>
              <a:t>Настройка таймаутов</a:t>
            </a:r>
          </a:p>
          <a:p>
            <a:pPr>
              <a:lnSpc>
                <a:spcPts val="2100"/>
              </a:lnSpc>
            </a:pPr>
            <a:r>
              <a:rPr lang="ru-RU" sz="1700" b="1" dirty="0">
                <a:solidFill>
                  <a:srgbClr val="151617"/>
                </a:solidFill>
                <a:latin typeface="Montserrat Black" pitchFamily="34" charset="0"/>
              </a:rPr>
              <a:t>соединения и чтения для </a:t>
            </a:r>
            <a:r>
              <a:rPr lang="ru-RU" sz="1700" b="1" dirty="0" err="1">
                <a:solidFill>
                  <a:srgbClr val="151617"/>
                </a:solidFill>
                <a:latin typeface="Montserrat Black" pitchFamily="34" charset="0"/>
              </a:rPr>
              <a:t>RestTemplate</a:t>
            </a:r>
            <a:endParaRPr lang="en-US" sz="1700" b="1" dirty="0">
              <a:solidFill>
                <a:srgbClr val="151617"/>
              </a:solidFill>
              <a:latin typeface="Montserrat Black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5439012" y="5740003"/>
            <a:ext cx="3752374" cy="1082993"/>
          </a:xfrm>
          <a:prstGeom prst="roundRect">
            <a:avLst>
              <a:gd name="adj" fmla="val 844"/>
            </a:avLst>
          </a:prstGeom>
          <a:solidFill>
            <a:srgbClr val="EBDFD7"/>
          </a:solidFill>
          <a:ln/>
        </p:spPr>
      </p:sp>
      <p:sp>
        <p:nvSpPr>
          <p:cNvPr id="22" name="Shape 19"/>
          <p:cNvSpPr/>
          <p:nvPr/>
        </p:nvSpPr>
        <p:spPr>
          <a:xfrm>
            <a:off x="5430440" y="5740003"/>
            <a:ext cx="3769519" cy="1232535"/>
          </a:xfrm>
          <a:prstGeom prst="roundRect">
            <a:avLst>
              <a:gd name="adj" fmla="val 2405"/>
            </a:avLst>
          </a:prstGeom>
          <a:solidFill>
            <a:srgbClr val="EBDFD7"/>
          </a:solidFill>
          <a:ln/>
        </p:spPr>
      </p:sp>
      <p:sp>
        <p:nvSpPr>
          <p:cNvPr id="23" name="Text 20"/>
          <p:cNvSpPr/>
          <p:nvPr/>
        </p:nvSpPr>
        <p:spPr>
          <a:xfrm>
            <a:off x="5638918" y="5883830"/>
            <a:ext cx="3335418" cy="105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00"/>
              </a:lnSpc>
            </a:pPr>
            <a:r>
              <a:rPr lang="ru-RU" sz="1350" dirty="0">
                <a:solidFill>
                  <a:srgbClr val="1516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Таймауты </a:t>
            </a:r>
            <a:r>
              <a:rPr lang="en-US" sz="1350" dirty="0" err="1">
                <a:solidFill>
                  <a:srgbClr val="1516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RestTemplate</a:t>
            </a:r>
            <a:r>
              <a:rPr lang="en-US" sz="1350" dirty="0">
                <a:solidFill>
                  <a:srgbClr val="1516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ru-RU" sz="1350" dirty="0">
                <a:solidFill>
                  <a:srgbClr val="1516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через </a:t>
            </a:r>
            <a:r>
              <a:rPr lang="en-US" sz="1350" dirty="0" err="1">
                <a:solidFill>
                  <a:srgbClr val="1516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RestTemplateBuilder</a:t>
            </a:r>
            <a:r>
              <a:rPr lang="en-US" sz="1350" dirty="0">
                <a:solidFill>
                  <a:srgbClr val="1516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>
              <a:lnSpc>
                <a:spcPts val="1900"/>
              </a:lnSpc>
            </a:pPr>
            <a:r>
              <a:rPr lang="en-US" sz="1350" dirty="0" err="1">
                <a:solidFill>
                  <a:srgbClr val="1516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resttemplate.connect</a:t>
            </a:r>
            <a:r>
              <a:rPr lang="en-US" sz="1350" dirty="0">
                <a:solidFill>
                  <a:srgbClr val="1516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-timeout=2000</a:t>
            </a:r>
          </a:p>
          <a:p>
            <a:pPr>
              <a:lnSpc>
                <a:spcPts val="1900"/>
              </a:lnSpc>
            </a:pPr>
            <a:r>
              <a:rPr lang="en-US" sz="1350" dirty="0" err="1">
                <a:solidFill>
                  <a:srgbClr val="1516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resttemplate.read</a:t>
            </a:r>
            <a:r>
              <a:rPr lang="en-US" sz="1350" dirty="0">
                <a:solidFill>
                  <a:srgbClr val="1516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-timeout=2000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5430440" y="7145113"/>
            <a:ext cx="3752374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Таймаут соединения и чтения по 2 секунды.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306411" y="285035"/>
            <a:ext cx="5817037" cy="52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Тестирование в Postman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1306411" y="989052"/>
            <a:ext cx="7978140" cy="1552456"/>
          </a:xfrm>
          <a:prstGeom prst="roundRect">
            <a:avLst>
              <a:gd name="adj" fmla="val 589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dist="2159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329271" y="1011912"/>
            <a:ext cx="666274" cy="1506736"/>
          </a:xfrm>
          <a:prstGeom prst="rect">
            <a:avLst/>
          </a:prstGeom>
          <a:solidFill>
            <a:srgbClr val="F8ECE4"/>
          </a:solidFill>
          <a:ln/>
          <a:effectLst>
            <a:outerShdw dist="2159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533701" y="1609129"/>
            <a:ext cx="249793" cy="31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2117822" y="1178480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Retry + Fallback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117822" y="1512093"/>
            <a:ext cx="6977301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Запрос: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?fail=error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117822" y="1816536"/>
            <a:ext cx="6977301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Результат: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3 попытки вызова, затем fallback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117822" y="2120979"/>
            <a:ext cx="6977301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Время: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~3 секунды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306411" y="2663785"/>
            <a:ext cx="7978140" cy="1552456"/>
          </a:xfrm>
          <a:prstGeom prst="roundRect">
            <a:avLst>
              <a:gd name="adj" fmla="val 589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dist="2159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329271" y="2686645"/>
            <a:ext cx="666274" cy="1506736"/>
          </a:xfrm>
          <a:prstGeom prst="rect">
            <a:avLst/>
          </a:prstGeom>
          <a:solidFill>
            <a:srgbClr val="F8ECE4"/>
          </a:solidFill>
          <a:ln/>
          <a:effectLst>
            <a:outerShdw dist="2159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533701" y="3283862"/>
            <a:ext cx="249793" cy="31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2117822" y="2853213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Timeout + Retry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117822" y="3186826"/>
            <a:ext cx="6977301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Запрос: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?fail=timeout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117822" y="3491269"/>
            <a:ext cx="6977301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Результат: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3 таймаута по 2с, затем fallback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117822" y="3795712"/>
            <a:ext cx="6977301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Время: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~6 секунд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306411" y="4338518"/>
            <a:ext cx="7978140" cy="1552456"/>
          </a:xfrm>
          <a:prstGeom prst="roundRect">
            <a:avLst>
              <a:gd name="adj" fmla="val 589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dist="2159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329271" y="4361378"/>
            <a:ext cx="666274" cy="1506736"/>
          </a:xfrm>
          <a:prstGeom prst="rect">
            <a:avLst/>
          </a:prstGeom>
          <a:solidFill>
            <a:srgbClr val="F8ECE4"/>
          </a:solidFill>
          <a:ln/>
          <a:effectLst>
            <a:outerShdw dist="2159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533701" y="4958595"/>
            <a:ext cx="249793" cy="31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1950" dirty="0"/>
          </a:p>
        </p:txBody>
      </p:sp>
      <p:sp>
        <p:nvSpPr>
          <p:cNvPr id="21" name="Text 18"/>
          <p:cNvSpPr/>
          <p:nvPr/>
        </p:nvSpPr>
        <p:spPr>
          <a:xfrm>
            <a:off x="2117822" y="4527946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Circuit Breaker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117822" y="4861559"/>
            <a:ext cx="6977301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Запросы: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5 ошибок подряд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2117822" y="5166002"/>
            <a:ext cx="6977301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Результат: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OPEN состояние, прямой fallback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2117822" y="5470445"/>
            <a:ext cx="6977301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Время: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мгновенно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1306411" y="6013251"/>
            <a:ext cx="7978140" cy="1552456"/>
          </a:xfrm>
          <a:prstGeom prst="roundRect">
            <a:avLst>
              <a:gd name="adj" fmla="val 589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dist="2159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329271" y="6036111"/>
            <a:ext cx="666274" cy="1506736"/>
          </a:xfrm>
          <a:prstGeom prst="rect">
            <a:avLst/>
          </a:prstGeom>
          <a:solidFill>
            <a:srgbClr val="F8ECE4"/>
          </a:solidFill>
          <a:ln/>
          <a:effectLst>
            <a:outerShdw dist="2159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1533701" y="6633329"/>
            <a:ext cx="249793" cy="31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</a:t>
            </a:r>
            <a:endParaRPr lang="en-US" sz="1950" dirty="0"/>
          </a:p>
        </p:txBody>
      </p:sp>
      <p:sp>
        <p:nvSpPr>
          <p:cNvPr id="28" name="Text 25"/>
          <p:cNvSpPr/>
          <p:nvPr/>
        </p:nvSpPr>
        <p:spPr>
          <a:xfrm>
            <a:off x="2117822" y="6202679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Bulkhead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2117822" y="6536293"/>
            <a:ext cx="6977301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Запросы: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3 параллельных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2117822" y="6840735"/>
            <a:ext cx="6977301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Результат: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2 успешных, 3-й fallback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2117822" y="7145178"/>
            <a:ext cx="6977301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Время: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2с для успешных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19376" y="648772"/>
            <a:ext cx="5138976" cy="642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Заключение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19376" y="1570434"/>
            <a:ext cx="7705249" cy="1486019"/>
          </a:xfrm>
          <a:prstGeom prst="roundRect">
            <a:avLst>
              <a:gd name="adj" fmla="val 615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667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932498" y="1783556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Цель достигнута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32498" y="2216348"/>
            <a:ext cx="7279005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Все четыре паттерна успешно реализованы и работают одновременно в одном клиентском сервисе.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19376" y="3242667"/>
            <a:ext cx="7705249" cy="1486019"/>
          </a:xfrm>
          <a:prstGeom prst="roundRect">
            <a:avLst>
              <a:gd name="adj" fmla="val 615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667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32498" y="3455789"/>
            <a:ext cx="4292441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Практическая применимость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32498" y="3888581"/>
            <a:ext cx="7279005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Разработанный шаблон может быть использован в корпоративных приложениях на Spring Boot с Resilience4j.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</TotalTime>
  <Words>928</Words>
  <Application>Microsoft Office PowerPoint</Application>
  <PresentationFormat>Произвольный</PresentationFormat>
  <Paragraphs>160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9" baseType="lpstr">
      <vt:lpstr>Montserrat Light</vt:lpstr>
      <vt:lpstr>Wingdings 3</vt:lpstr>
      <vt:lpstr>Calibri</vt:lpstr>
      <vt:lpstr>Menlo</vt:lpstr>
      <vt:lpstr>Inconsolata</vt:lpstr>
      <vt:lpstr>Montserrat Black</vt:lpstr>
      <vt:lpstr>Consolas</vt:lpstr>
      <vt:lpstr>Trebuchet MS</vt:lpstr>
      <vt:lpstr>Arial</vt:lpstr>
      <vt:lpstr>Аспект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Никита Кандыба</cp:lastModifiedBy>
  <cp:revision>9</cp:revision>
  <dcterms:created xsi:type="dcterms:W3CDTF">2026-04-15T07:02:34Z</dcterms:created>
  <dcterms:modified xsi:type="dcterms:W3CDTF">2026-04-15T07:39:01Z</dcterms:modified>
</cp:coreProperties>
</file>